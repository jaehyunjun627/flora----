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7FAE6E">
              <a:alpha val="70000"/>
            </a:srgbClr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B9D3A7">
              <a:alpha val="50000"/>
            </a:srgbClr>
          </a:solidFill>
          <a:ln w="12700">
            <a:solidFill>
              <a:srgbClr val="B9D3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🌸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꽃담 — 꽃과 식물을 잇는 통합 플랫폼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731520" cy="54864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마켓 · 구독 · 커뮤니티 · AI 챗봇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3.5  ·  React 19  ·  Oracle XE  ·  MongoDB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積み木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오늘의 발표 순서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65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소개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2677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배경과 서비스 목표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743200"/>
            <a:ext cx="73152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&amp; 아키텍처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090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Spring Boot + 이중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566160"/>
            <a:ext cx="73152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11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1168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5가지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913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마켓 · 구독 · 마이페이지 · 커뮤니티 ·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389120"/>
            <a:ext cx="73152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1168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설계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7365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23→10 통합 리팩토링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212080"/>
            <a:ext cx="73152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257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01168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&amp; 마무리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55595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시나리오와 향후 계획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꽃·식물을 중심으로 한 통합 플랫폼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73152" cy="13716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Flora(꽃담)는 </a:t>
            </a:r>
            <a:pPr indent="0" marL="0">
              <a:buNone/>
            </a:pPr>
            <a:r>
              <a:rPr lang="en-US" sz="18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꽃을 사고, 키우고, 나누는</a:t>
            </a:r>
            <a:pPr indent="0" marL="0">
              <a:buNone/>
            </a:pPr>
            <a:r>
              <a:rPr lang="en-US" sz="18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모든 순간을 한 앱에서 경험하게 합니다.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해결하려는 문제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968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분산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24281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관리법·상품·리뷰가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다른 곳에 있습니다.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7457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관리의 어려움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02005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 집사는 "이 식물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키우지?"를 반복합니다.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5486400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5229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부담스러운 선물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79729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기념일을 잊거나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고르기가 어렵습니다.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4572000"/>
            <a:ext cx="411480" cy="502920"/>
          </a:xfrm>
          <a:prstGeom prst="rtTriangl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Flora의 해결책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931920"/>
            <a:ext cx="4800600" cy="713232"/>
          </a:xfrm>
          <a:prstGeom prst="rect">
            <a:avLst/>
          </a:prstGeom>
          <a:solidFill>
            <a:srgbClr val="EEF4E7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931920"/>
            <a:ext cx="73152" cy="71323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968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도감 + 마켓 통합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48272" y="424281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상세에 산림청·자체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정보가 자동 연결.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4709160"/>
            <a:ext cx="4800600" cy="713232"/>
          </a:xfrm>
          <a:prstGeom prst="rect">
            <a:avLst/>
          </a:prstGeom>
          <a:solidFill>
            <a:srgbClr val="EEF4E7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709160"/>
            <a:ext cx="73152" cy="71323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745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챗봇 &amp; 진단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48272" y="502005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업로드로 식물 식별,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병해 진단과 처방까지.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5486400"/>
            <a:ext cx="4800600" cy="713232"/>
          </a:xfrm>
          <a:prstGeom prst="rect">
            <a:avLst/>
          </a:prstGeom>
          <a:solidFill>
            <a:srgbClr val="EEF4E7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5486400"/>
            <a:ext cx="73152" cy="71323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5522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+ 기념일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579729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제철 꽃을 골라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기념일에 자동 배송.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× Spring Boot × 이중 DB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1554480" cy="6858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874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19 · Vite 8 · React Router 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1945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axios 1.13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606040"/>
            <a:ext cx="1554480" cy="6858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651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3.5.12 · Java 17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971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Gradle · Swagger · Lombok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383280"/>
            <a:ext cx="1554480" cy="6858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83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429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Security · JWT (jjwt 0.12)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749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토큰 만료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60520"/>
            <a:ext cx="1554480" cy="685800"/>
          </a:xfrm>
          <a:prstGeom prst="rect">
            <a:avLst/>
          </a:prstGeom>
          <a:solidFill>
            <a:srgbClr val="7FAE6E"/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206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XE (JPA)  +  MongoDB (Spring Data)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5262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관계형 + 문서형 역할 분리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937760"/>
            <a:ext cx="10515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937760"/>
            <a:ext cx="1554480" cy="685800"/>
          </a:xfrm>
          <a:prstGeom prst="rect">
            <a:avLst/>
          </a:prstGeom>
          <a:solidFill>
            <a:srgbClr val="6B7368"/>
          </a:solidFill>
          <a:ln w="12700">
            <a:solidFill>
              <a:srgbClr val="6B73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937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4983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산림청 API · OpenAI · Pixabay · PG(예정)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53035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정보 · AI · 이미지 · 결제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요청 → 응답 한눈에 보기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 /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19 SPA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/api/* 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011680"/>
            <a:ext cx="2011680" cy="1005840"/>
          </a:xfrm>
          <a:prstGeom prst="rect">
            <a:avLst/>
          </a:prstGeom>
          <a:solidFill>
            <a:srgbClr val="D96B3B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검증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2011680" cy="1005840"/>
          </a:xfrm>
          <a:prstGeom prst="rect">
            <a:avLst/>
          </a:prstGeom>
          <a:solidFill>
            <a:srgbClr val="2E7D4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@RestController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514600"/>
            <a:ext cx="457200" cy="0"/>
          </a:xfrm>
          <a:prstGeom prst="line">
            <a:avLst/>
          </a:prstGeom>
          <a:noFill/>
          <a:ln w="19050">
            <a:solidFill>
              <a:srgbClr val="6B73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2080" y="2514600"/>
            <a:ext cx="457200" cy="0"/>
          </a:xfrm>
          <a:prstGeom prst="line">
            <a:avLst/>
          </a:prstGeom>
          <a:noFill/>
          <a:ln w="19050">
            <a:solidFill>
              <a:srgbClr val="6B73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2514600"/>
            <a:ext cx="457200" cy="0"/>
          </a:xfrm>
          <a:prstGeom prst="line">
            <a:avLst/>
          </a:prstGeom>
          <a:noFill/>
          <a:ln w="19050">
            <a:solidFill>
              <a:srgbClr val="6B73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3566160"/>
            <a:ext cx="2011680" cy="1005840"/>
          </a:xfrm>
          <a:prstGeom prst="rect">
            <a:avLst/>
          </a:prstGeom>
          <a:solidFill>
            <a:srgbClr val="1F4E2C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로직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566160"/>
            <a:ext cx="2011680" cy="1005840"/>
          </a:xfrm>
          <a:prstGeom prst="rect">
            <a:avLst/>
          </a:prstGeom>
          <a:solidFill>
            <a:srgbClr val="7FAE6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4069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JPA / Mongo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0" y="3017520"/>
            <a:ext cx="0" cy="548640"/>
          </a:xfrm>
          <a:prstGeom prst="line">
            <a:avLst/>
          </a:prstGeom>
          <a:noFill/>
          <a:ln w="19050">
            <a:solidFill>
              <a:srgbClr val="6B73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4069080"/>
            <a:ext cx="-457200" cy="0"/>
          </a:xfrm>
          <a:prstGeom prst="line">
            <a:avLst/>
          </a:prstGeom>
          <a:noFill/>
          <a:ln w="19050">
            <a:solidFill>
              <a:srgbClr val="6B73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828800" y="5120640"/>
            <a:ext cx="3474720" cy="1005840"/>
          </a:xfrm>
          <a:prstGeom prst="rect">
            <a:avLst/>
          </a:prstGeom>
          <a:solidFill>
            <a:srgbClr val="1F4E2C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2880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XE (JPA)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28800" y="5623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 · PRODUCTS · ORDERS · POSTS 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5120640"/>
            <a:ext cx="3474720" cy="1005840"/>
          </a:xfrm>
          <a:prstGeom prst="rect">
            <a:avLst/>
          </a:prstGeom>
          <a:solidFill>
            <a:srgbClr val="7FAE6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5623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plants · plant_disease_diagnoses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572000"/>
            <a:ext cx="0" cy="548640"/>
          </a:xfrm>
          <a:prstGeom prst="line">
            <a:avLst/>
          </a:prstGeom>
          <a:noFill/>
          <a:ln w="19050">
            <a:solidFill>
              <a:srgbClr val="6B736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566160" y="5074920"/>
            <a:ext cx="6217920" cy="0"/>
          </a:xfrm>
          <a:prstGeom prst="line">
            <a:avLst/>
          </a:prstGeom>
          <a:noFill/>
          <a:ln w="9525">
            <a:solidFill>
              <a:srgbClr val="6B7368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3657600" y="4736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plantId (String)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Flora를 이루는 다섯 기둥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566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20574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🛒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목록·상세·장바구니·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주문·판매자 대시보드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566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828800"/>
            <a:ext cx="73152" cy="20574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65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💐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월/연 정액 정기 배송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기념일 자동 발송·손편지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566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828800"/>
            <a:ext cx="73152" cy="2057400"/>
          </a:xfrm>
          <a:prstGeom prst="rect">
            <a:avLst/>
          </a:prstGeom>
          <a:solidFill>
            <a:srgbClr val="7FAE6E"/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965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🌱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0789920" y="1965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FA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등급제·출석·퀴즈·포인트·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성장 캘린더/일기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4114800"/>
            <a:ext cx="3566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51760" y="4114800"/>
            <a:ext cx="73152" cy="20574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4251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303520" y="4251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5074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83464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자유게시판·지역거래·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축제/체험 정보·댓글·좋아요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114800"/>
            <a:ext cx="3566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114800"/>
            <a:ext cx="73152" cy="2057400"/>
          </a:xfrm>
          <a:prstGeom prst="rect">
            <a:avLst/>
          </a:prstGeom>
          <a:solidFill>
            <a:srgbClr val="6B7368"/>
          </a:solidFill>
          <a:ln w="12700">
            <a:solidFill>
              <a:srgbClr val="6B73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251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961120" y="4251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5074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챗봇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추천·식물 식별·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병해 진단(사진 업로드)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→ 10 통합 리팩토링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840480" cy="4206240"/>
          </a:xfrm>
          <a:prstGeom prst="rect">
            <a:avLst/>
          </a:prstGeom>
          <a:solidFill>
            <a:srgbClr val="1F4E2C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D3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테이블 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3383280"/>
            <a:ext cx="2011680" cy="0"/>
          </a:xfrm>
          <a:prstGeom prst="line">
            <a:avLst/>
          </a:prstGeom>
          <a:noFill/>
          <a:ln w="12700">
            <a:solidFill>
              <a:srgbClr val="7FA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FA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Oracle 엔티티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MongoDB 도큐먼트 2개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63093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847088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84708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184708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회원·OAuth·약관·뱃지 통합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9424"/>
            <a:ext cx="6309360" cy="374904"/>
          </a:xfrm>
          <a:prstGeom prst="rect">
            <a:avLst/>
          </a:prstGeom>
          <a:solidFill>
            <a:srgbClr val="FAF7E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226771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26771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26771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+ plantId로 식물 연결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670048"/>
            <a:ext cx="63093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2688336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68833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68833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주문+아이템+결제 단일화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3090672"/>
            <a:ext cx="6309360" cy="374904"/>
          </a:xfrm>
          <a:prstGeom prst="rect">
            <a:avLst/>
          </a:prstGeom>
          <a:solidFill>
            <a:srgbClr val="FAF7E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20640" y="3108960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0896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CART_ITEMS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10896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511296"/>
            <a:ext cx="63093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3529584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52958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352958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게시글·공지·좋아요 카운터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931920"/>
            <a:ext cx="6309360" cy="374904"/>
          </a:xfrm>
          <a:prstGeom prst="rect">
            <a:avLst/>
          </a:prstGeom>
          <a:solidFill>
            <a:srgbClr val="FAF7E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20640" y="3950208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95020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95020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범용 댓글(POST/PRODUCT)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352544"/>
            <a:ext cx="63093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20640" y="437083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437083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PLANT_CALENDARS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437083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일정 + 성장 일기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4773168"/>
            <a:ext cx="6309360" cy="374904"/>
          </a:xfrm>
          <a:prstGeom prst="rect">
            <a:avLst/>
          </a:prstGeom>
          <a:solidFill>
            <a:srgbClr val="FAF7E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20640" y="4791456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479145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QUIZZES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55280" y="479145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퀴즈·포인트 적립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5193792"/>
            <a:ext cx="63093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20640" y="5212080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0" y="521208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FESTIVALS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521208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축제 정보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0" y="5614416"/>
            <a:ext cx="6309360" cy="374904"/>
          </a:xfrm>
          <a:prstGeom prst="rect">
            <a:avLst/>
          </a:prstGeom>
          <a:solidFill>
            <a:srgbClr val="FAF7EE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20640" y="5632704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563270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563270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정기구독 + 기념일 배송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DUAL-DB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Oracle과 MongoDB를 함께 썼는가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solidFill>
            <a:srgbClr val="F6F3EA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91440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틀이 정해진 데이터는 </a:t>
            </a:r>
            <a:pPr indent="0" marL="0">
              <a:buNone/>
            </a:pPr>
            <a:r>
              <a:rPr lang="en-US" sz="18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pPr indent="0" marL="0">
              <a:buNone/>
            </a:pPr>
            <a:r>
              <a:rPr lang="en-US" sz="18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,  틀이 유연해야 하는 데이터는 </a:t>
            </a:r>
            <a:pPr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pPr indent="0" marL="0">
              <a:buNone/>
            </a:pPr>
            <a:r>
              <a:rPr lang="en-US" sz="18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저장합니다.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5120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017520"/>
            <a:ext cx="5120640" cy="50292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XE (JPA)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관계가 명확하고 트랜잭션 정합성이 중요한 데이터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회원·주문·장바구니·게시글·구독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 제약, ACID, JPA 매핑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Security와 자연스러운 연동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변경이 무겁다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120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120640" cy="5029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657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식물마다 다른 속성 / 유연한 문서 구조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plants 51종 도감, AI 병해 진단 이력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Map&lt;String,Object&gt;로 관리 항목 유연 저장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응답 스키마 변경에도 대응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강한 관계 모델링에는 부적합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DEMO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시연 순서 — 사용자 여정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783080" y="192024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965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&amp; 로그인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0428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토큰 발급 → axios 인터셉터 자동 첨부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11580" y="2697480"/>
            <a:ext cx="0" cy="91440"/>
          </a:xfrm>
          <a:prstGeom prst="line">
            <a:avLst/>
          </a:prstGeom>
          <a:noFill/>
          <a:ln w="25400">
            <a:solidFill>
              <a:srgbClr val="7FAE6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278892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783080" y="278892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28346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탐색 &amp; 주문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317296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필터 → 장바구니 → 주문 생성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11580" y="3566160"/>
            <a:ext cx="0" cy="91440"/>
          </a:xfrm>
          <a:prstGeom prst="line">
            <a:avLst/>
          </a:prstGeom>
          <a:noFill/>
          <a:ln w="25400">
            <a:solidFill>
              <a:srgbClr val="7FAE6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783080" y="365760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65960" y="37033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&amp; 식물 관리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65960" y="404164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등급·출석·내 식물 캘린더·성장 일기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11580" y="4434840"/>
            <a:ext cx="0" cy="91440"/>
          </a:xfrm>
          <a:prstGeom prst="line">
            <a:avLst/>
          </a:prstGeom>
          <a:noFill/>
          <a:ln w="25400">
            <a:solidFill>
              <a:srgbClr val="7FAE6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783080" y="452628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65960" y="45720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챗봇 &amp; 진단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65960" y="491032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응답 + 사진 업로드 식별·병해 진단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211580" y="5303520"/>
            <a:ext cx="0" cy="91440"/>
          </a:xfrm>
          <a:prstGeom prst="line">
            <a:avLst/>
          </a:prstGeom>
          <a:noFill/>
          <a:ln w="25400">
            <a:solidFill>
              <a:srgbClr val="7FAE6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22960" y="539496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94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1783080" y="539496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965960" y="54406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가입 (피날레)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65960" y="577900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 선택 → 기념일 등록 → 손편지 → 결제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우리가 고민했던 지점들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19202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통합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→ 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좋아요·결제·주문아이템을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카운터/단일 레코드로 단순화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828800"/>
            <a:ext cx="73152" cy="19202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DB 전략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+ Mongo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관계형 정합성과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문서형 유연성을 분리 운용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28800"/>
            <a:ext cx="73152" cy="1920240"/>
          </a:xfrm>
          <a:prstGeom prst="rect">
            <a:avLst/>
          </a:prstGeom>
          <a:solidFill>
            <a:srgbClr val="7FAE6E"/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범용 COMMENTS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targetType + targetId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게시글·상품·일기 어디에도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구조로 댓글 부착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886200"/>
            <a:ext cx="73152" cy="192024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&amp; careInfo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Map&lt;String,Object&gt;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709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식물별로 다른 속성을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스키마로 저장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38862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886200"/>
            <a:ext cx="73152" cy="19202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 + sellerStatus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USER/SELLER/ADMIN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4709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판매자 신청→승인 흐름을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2개로 경량 구현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8862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3886200"/>
            <a:ext cx="73152" cy="19202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컨벤션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스타일 금지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58200" y="4709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스타일은 CSS 파일,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axios 인스턴스로 통일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6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어떻게 만들어 왔는가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463040" y="2377440"/>
            <a:ext cx="9235440" cy="0"/>
          </a:xfrm>
          <a:prstGeom prst="line">
            <a:avLst/>
          </a:prstGeom>
          <a:noFill/>
          <a:ln w="38100">
            <a:solidFill>
              <a:srgbClr val="7FA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2212848"/>
            <a:ext cx="329184" cy="329184"/>
          </a:xfrm>
          <a:prstGeom prst="ellipse">
            <a:avLst/>
          </a:prstGeom>
          <a:solidFill>
            <a:srgbClr val="D96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요구사항·ERD 초안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84448" y="2212848"/>
            <a:ext cx="329184" cy="329184"/>
          </a:xfrm>
          <a:prstGeom prst="ellipse">
            <a:avLst/>
          </a:prstGeom>
          <a:solidFill>
            <a:srgbClr val="D96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23→10 통합 리팩토링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70448" y="2212848"/>
            <a:ext cx="329184" cy="329184"/>
          </a:xfrm>
          <a:prstGeom prst="ellipse">
            <a:avLst/>
          </a:prstGeom>
          <a:solidFill>
            <a:srgbClr val="D96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백·프론트 병렬 개발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56448" y="2212848"/>
            <a:ext cx="329184" cy="329184"/>
          </a:xfrm>
          <a:prstGeom prst="ellipse">
            <a:avLst/>
          </a:prstGeom>
          <a:solidFill>
            <a:srgbClr val="D96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Swagger 기반 계약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33888" y="2212848"/>
            <a:ext cx="329184" cy="329184"/>
          </a:xfrm>
          <a:prstGeom prst="ellipse">
            <a:avLst/>
          </a:prstGeom>
          <a:solidFill>
            <a:srgbClr val="D96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준비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시나리오·문서화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11480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114800"/>
            <a:ext cx="2697480" cy="50292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· DB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754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정의, ERD 설계,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기능명세서·팀 공유 문서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411480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0" y="4114800"/>
            <a:ext cx="2697480" cy="5029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4754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API, JPA/Mongo,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인증·결제 구조 설계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11480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114800"/>
            <a:ext cx="2697480" cy="502920"/>
          </a:xfrm>
          <a:prstGeom prst="rect">
            <a:avLst/>
          </a:prstGeom>
          <a:solidFill>
            <a:srgbClr val="7FAE6E"/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4754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페이지·컴포넌트,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axios API 모듈·AuthContext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26880" y="411480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26880" y="4114800"/>
            <a:ext cx="2697480" cy="50292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외부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09760" y="4754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챗봇, 산림청 API,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 식별/병해 진단 연동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 (꽃담) 프로젝트 발표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2E7D4F">
              <a:alpha val="70000"/>
            </a:srgb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FAE6E">
              <a:alpha val="50000"/>
            </a:srgbClr>
          </a:solidFill>
          <a:ln w="12700">
            <a:solidFill>
              <a:srgbClr val="7FA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 🌿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Flora가 더 성장하기 위해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265176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B9D3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73152" cy="23774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· 배송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PG(카카오/토스페이) 연동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트래킹 API 통합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65176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B9D3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743200"/>
            <a:ext cx="73152" cy="23774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고도화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86200" y="3794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구매·출석·일기 데이터로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추천 모델 도입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65176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B9D3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43200"/>
            <a:ext cx="73152" cy="23774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판매자 콘솔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3794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매출·리뷰·재고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업로드·프로모션 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2743200"/>
            <a:ext cx="2651760" cy="23774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B9D3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743200"/>
            <a:ext cx="73152" cy="2377440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6404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경험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64040" y="3794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PWA 적용 / 알림 연동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네이티브 앱 전환 검토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852160"/>
            <a:ext cx="548640" cy="36576"/>
          </a:xfrm>
          <a:prstGeom prst="rect">
            <a:avLst/>
          </a:prstGeom>
          <a:solidFill>
            <a:srgbClr val="D96B3B"/>
          </a:solidFill>
          <a:ln w="12700">
            <a:solidFill>
              <a:srgbClr val="D96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D3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 환영합니다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FA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積み木  ·  Flora (꽃담)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Flora 프로젝트 발표</dc:title>
  <dc:subject>PptxGenJS Presentation</dc:subject>
  <dc:creator>Flora Team</dc:creator>
  <cp:lastModifiedBy>Flora Team</cp:lastModifiedBy>
  <cp:revision>1</cp:revision>
  <dcterms:created xsi:type="dcterms:W3CDTF">2026-04-24T01:24:40Z</dcterms:created>
  <dcterms:modified xsi:type="dcterms:W3CDTF">2026-04-24T01:24:40Z</dcterms:modified>
</cp:coreProperties>
</file>